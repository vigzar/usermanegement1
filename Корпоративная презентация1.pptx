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79" r:id="rId2"/>
    <p:sldId id="276" r:id="rId3"/>
    <p:sldId id="264" r:id="rId4"/>
    <p:sldId id="268" r:id="rId5"/>
    <p:sldId id="269" r:id="rId6"/>
    <p:sldId id="270" r:id="rId7"/>
    <p:sldId id="271" r:id="rId8"/>
    <p:sldId id="281" r:id="rId9"/>
    <p:sldId id="278" r:id="rId10"/>
    <p:sldId id="282" r:id="rId11"/>
    <p:sldId id="283" r:id="rId12"/>
    <p:sldId id="263" r:id="rId13"/>
    <p:sldId id="284" r:id="rId14"/>
    <p:sldId id="272" r:id="rId15"/>
    <p:sldId id="280" r:id="rId16"/>
    <p:sldId id="275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4391"/>
    <a:srgbClr val="764596"/>
    <a:srgbClr val="4C4291"/>
    <a:srgbClr val="414291"/>
    <a:srgbClr val="484393"/>
    <a:srgbClr val="9C478A"/>
    <a:srgbClr val="AA5191"/>
    <a:srgbClr val="2B5BA5"/>
    <a:srgbClr val="285AA4"/>
    <a:srgbClr val="315C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5012" autoAdjust="0"/>
  </p:normalViewPr>
  <p:slideViewPr>
    <p:cSldViewPr snapToGrid="0" showGuides="1">
      <p:cViewPr varScale="1">
        <p:scale>
          <a:sx n="109" d="100"/>
          <a:sy n="109" d="100"/>
        </p:scale>
        <p:origin x="612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488A39-FBD0-4803-B081-179227C31304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1952AC-C0F5-4488-AF91-33EF88CB97A8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1952AC-C0F5-4488-AF91-33EF88CB97A8}" type="slidenum">
              <a:rPr lang="ru-RU" smtClean="0"/>
              <a:t>9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634698" y="2453391"/>
            <a:ext cx="6346132" cy="1522676"/>
          </a:xfrm>
        </p:spPr>
        <p:txBody>
          <a:bodyPr anchor="ctr">
            <a:normAutofit/>
          </a:bodyPr>
          <a:lstStyle>
            <a:lvl1pPr algn="l">
              <a:defRPr sz="2400" b="1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«ТЕМА КУРСОВОЙ РАБОТЫ (ПРОЕКТА)»</a:t>
            </a:r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56" r="49722" b="19357"/>
          <a:stretch>
            <a:fillRect/>
          </a:stretch>
        </p:blipFill>
        <p:spPr>
          <a:xfrm>
            <a:off x="6556531" y="808958"/>
            <a:ext cx="5576500" cy="4806062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>
          <a:xfrm>
            <a:off x="570629" y="4010120"/>
            <a:ext cx="37712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ВЫПОЛНИЛ СТУДЕНТ ГРУППЫ</a:t>
            </a:r>
          </a:p>
        </p:txBody>
      </p:sp>
      <p:sp>
        <p:nvSpPr>
          <p:cNvPr id="10" name="Текст 9"/>
          <p:cNvSpPr>
            <a:spLocks noGrp="1"/>
          </p:cNvSpPr>
          <p:nvPr>
            <p:ph type="body" sz="quarter" idx="13" hasCustomPrompt="1"/>
          </p:nvPr>
        </p:nvSpPr>
        <p:spPr>
          <a:xfrm>
            <a:off x="634698" y="4449555"/>
            <a:ext cx="6700974" cy="706465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ИВАНОВ ИВАН ИВАНОВИЧ</a:t>
            </a:r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637150" y="1359011"/>
            <a:ext cx="35427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/>
            <a:r>
              <a:rPr lang="ru-RU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КУРСОВАЯ</a:t>
            </a:r>
            <a:r>
              <a:rPr lang="ru-RU" sz="1800" baseline="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РАБОТА (ПРОЕКТ)</a:t>
            </a:r>
            <a:endParaRPr lang="ru-RU" sz="18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634698" y="2123477"/>
            <a:ext cx="108876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/>
            <a:r>
              <a:rPr lang="ru-RU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 ТЕМУ</a:t>
            </a:r>
          </a:p>
        </p:txBody>
      </p:sp>
      <p:sp>
        <p:nvSpPr>
          <p:cNvPr id="25" name="Текст 9"/>
          <p:cNvSpPr>
            <a:spLocks noGrp="1"/>
          </p:cNvSpPr>
          <p:nvPr>
            <p:ph type="body" sz="quarter" idx="17" hasCustomPrompt="1"/>
          </p:nvPr>
        </p:nvSpPr>
        <p:spPr>
          <a:xfrm>
            <a:off x="3952616" y="3997677"/>
            <a:ext cx="959937" cy="367057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Н1812</a:t>
            </a:r>
          </a:p>
        </p:txBody>
      </p:sp>
      <p:sp>
        <p:nvSpPr>
          <p:cNvPr id="26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634698" y="6084911"/>
            <a:ext cx="411480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МОСКВА 2026</a:t>
            </a:r>
          </a:p>
        </p:txBody>
      </p:sp>
      <p:sp>
        <p:nvSpPr>
          <p:cNvPr id="27" name="Прямоугольник 26"/>
          <p:cNvSpPr/>
          <p:nvPr userDrawn="1"/>
        </p:nvSpPr>
        <p:spPr>
          <a:xfrm>
            <a:off x="570629" y="5179157"/>
            <a:ext cx="625057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ct val="150000"/>
              </a:lnSpc>
            </a:pPr>
            <a:r>
              <a:rPr lang="ru-RU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РУКОВОДИТЕЛЬ</a:t>
            </a:r>
          </a:p>
          <a:p>
            <a:pPr lvl="0" algn="l">
              <a:lnSpc>
                <a:spcPct val="150000"/>
              </a:lnSpc>
            </a:pPr>
            <a:r>
              <a:rPr lang="ru-RU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КУРСОВОЙ РАБОТЫ (ПРОЕКТА):</a:t>
            </a:r>
          </a:p>
          <a:p>
            <a:pPr lvl="0" algn="l">
              <a:lnSpc>
                <a:spcPct val="150000"/>
              </a:lnSpc>
            </a:pPr>
            <a:endParaRPr lang="ru-RU" sz="1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Текст 14"/>
          <p:cNvSpPr>
            <a:spLocks noGrp="1"/>
          </p:cNvSpPr>
          <p:nvPr>
            <p:ph type="body" sz="quarter" idx="18" hasCustomPrompt="1"/>
          </p:nvPr>
        </p:nvSpPr>
        <p:spPr>
          <a:xfrm>
            <a:off x="3933594" y="5615020"/>
            <a:ext cx="2299063" cy="4056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600" b="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ФАМИЛИЯ И.О.</a:t>
            </a:r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84417" y="437781"/>
            <a:ext cx="118410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algn="ctr" defTabSz="914400" rtl="0" eaLnBrk="1" latinLnBrk="0" hangingPunct="1"/>
            <a:r>
              <a:rPr lang="ru-RU" sz="1200" kern="1200" dirty="0">
                <a:solidFill>
                  <a:srgbClr val="0020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ДЕПАРТАМЕНТ ОБРАЗОВАНИЯ И НАУКИ ГОРОДА МОСКВЫ</a:t>
            </a:r>
          </a:p>
          <a:p>
            <a:pPr algn="ctr"/>
            <a:r>
              <a:rPr lang="ru-RU" sz="1200" kern="1200" dirty="0">
                <a:solidFill>
                  <a:srgbClr val="0020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Государственное бюджетное профессиональное образовательное учреждение города Москвы</a:t>
            </a:r>
          </a:p>
          <a:p>
            <a:pPr algn="ctr"/>
            <a:r>
              <a:rPr lang="ru-RU" sz="1200" kern="1200" dirty="0">
                <a:solidFill>
                  <a:srgbClr val="0020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«Колледж автоматизации и информационных технологий № 20»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 userDrawn="1"/>
        </p:nvSpPr>
        <p:spPr>
          <a:xfrm>
            <a:off x="1" y="0"/>
            <a:ext cx="1413862" cy="6858000"/>
          </a:xfrm>
          <a:prstGeom prst="rect">
            <a:avLst/>
          </a:prstGeom>
          <a:gradFill>
            <a:gsLst>
              <a:gs pos="0">
                <a:srgbClr val="764596"/>
              </a:gs>
              <a:gs pos="100000">
                <a:srgbClr val="44439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720583" y="1807134"/>
            <a:ext cx="8645178" cy="1888887"/>
          </a:xfrm>
        </p:spPr>
        <p:txBody>
          <a:bodyPr>
            <a:normAutofit/>
          </a:bodyPr>
          <a:lstStyle>
            <a:lvl1pPr>
              <a:defRPr sz="3200" b="1">
                <a:solidFill>
                  <a:srgbClr val="4C429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 ПОДРАЗДЕЛА</a:t>
            </a: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16" y="244739"/>
            <a:ext cx="787632" cy="1064695"/>
          </a:xfrm>
          <a:prstGeom prst="rect">
            <a:avLst/>
          </a:prstGeom>
        </p:spPr>
      </p:pic>
      <p:sp>
        <p:nvSpPr>
          <p:cNvPr id="8" name="Параллелограмм 7"/>
          <p:cNvSpPr/>
          <p:nvPr userDrawn="1"/>
        </p:nvSpPr>
        <p:spPr>
          <a:xfrm rot="19287111">
            <a:off x="-370082" y="1666669"/>
            <a:ext cx="2146752" cy="416832"/>
          </a:xfrm>
          <a:prstGeom prst="parallelogram">
            <a:avLst>
              <a:gd name="adj" fmla="val 791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0" hasCustomPrompt="1"/>
          </p:nvPr>
        </p:nvSpPr>
        <p:spPr>
          <a:xfrm>
            <a:off x="1720583" y="3696021"/>
            <a:ext cx="6529387" cy="990600"/>
          </a:xfrm>
        </p:spPr>
        <p:txBody>
          <a:bodyPr/>
          <a:lstStyle>
            <a:lvl1pPr marL="0" indent="0">
              <a:buNone/>
              <a:defRPr>
                <a:solidFill>
                  <a:srgbClr val="444391"/>
                </a:solidFill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 rot="16200000">
            <a:off x="6107539" y="-4941111"/>
            <a:ext cx="815121" cy="11353801"/>
          </a:xfrm>
          <a:prstGeom prst="rect">
            <a:avLst/>
          </a:prstGeom>
          <a:gradFill>
            <a:gsLst>
              <a:gs pos="0">
                <a:srgbClr val="764596"/>
              </a:gs>
              <a:gs pos="100000">
                <a:srgbClr val="44439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037344" y="328228"/>
            <a:ext cx="10316455" cy="815122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8" y="234870"/>
            <a:ext cx="787632" cy="1064695"/>
          </a:xfrm>
          <a:prstGeom prst="rect">
            <a:avLst/>
          </a:prstGeom>
        </p:spPr>
      </p:pic>
      <p:sp>
        <p:nvSpPr>
          <p:cNvPr id="6" name="Текст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199" y="1304543"/>
            <a:ext cx="10515601" cy="486736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rgbClr val="444391"/>
                </a:solidFill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Параллелограмм 7"/>
          <p:cNvSpPr/>
          <p:nvPr userDrawn="1"/>
        </p:nvSpPr>
        <p:spPr>
          <a:xfrm rot="13887111">
            <a:off x="10286727" y="638748"/>
            <a:ext cx="2146752" cy="416832"/>
          </a:xfrm>
          <a:prstGeom prst="parallelogram">
            <a:avLst>
              <a:gd name="adj" fmla="val 791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бъект 2"/>
          <p:cNvSpPr>
            <a:spLocks noGrp="1"/>
          </p:cNvSpPr>
          <p:nvPr>
            <p:ph idx="1"/>
          </p:nvPr>
        </p:nvSpPr>
        <p:spPr>
          <a:xfrm>
            <a:off x="838200" y="1938701"/>
            <a:ext cx="10515600" cy="435133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44439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 rot="16200000">
            <a:off x="6107539" y="-4941110"/>
            <a:ext cx="815121" cy="11353801"/>
          </a:xfrm>
          <a:prstGeom prst="rect">
            <a:avLst/>
          </a:prstGeom>
          <a:gradFill>
            <a:gsLst>
              <a:gs pos="0">
                <a:srgbClr val="764596"/>
              </a:gs>
              <a:gs pos="100000">
                <a:srgbClr val="44439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106500" y="328229"/>
            <a:ext cx="10247299" cy="815122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8" y="234871"/>
            <a:ext cx="787632" cy="1064695"/>
          </a:xfrm>
          <a:prstGeom prst="rect">
            <a:avLst/>
          </a:prstGeom>
        </p:spPr>
      </p:pic>
      <p:sp>
        <p:nvSpPr>
          <p:cNvPr id="6" name="Текст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199" y="1304544"/>
            <a:ext cx="5147663" cy="486736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rgbClr val="444391"/>
                </a:solidFill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Параллелограмм 7"/>
          <p:cNvSpPr/>
          <p:nvPr userDrawn="1"/>
        </p:nvSpPr>
        <p:spPr>
          <a:xfrm rot="13887111">
            <a:off x="10286727" y="584961"/>
            <a:ext cx="2146752" cy="416832"/>
          </a:xfrm>
          <a:prstGeom prst="parallelogram">
            <a:avLst>
              <a:gd name="adj" fmla="val 791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бъект 2"/>
          <p:cNvSpPr>
            <a:spLocks noGrp="1"/>
          </p:cNvSpPr>
          <p:nvPr>
            <p:ph idx="12" hasCustomPrompt="1"/>
          </p:nvPr>
        </p:nvSpPr>
        <p:spPr>
          <a:xfrm>
            <a:off x="6206138" y="1299566"/>
            <a:ext cx="5147662" cy="4990474"/>
          </a:xfrm>
        </p:spPr>
        <p:txBody>
          <a:bodyPr>
            <a:normAutofit/>
          </a:bodyPr>
          <a:lstStyle>
            <a:lvl1pPr marL="0" indent="0" algn="ctr">
              <a:buNone/>
              <a:defRPr sz="1800" baseline="0">
                <a:solidFill>
                  <a:srgbClr val="44439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Кликните для вставки таблицы, диаграммы, схемы, видео, фото, рисунок.</a:t>
            </a:r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3" hasCustomPrompt="1"/>
          </p:nvPr>
        </p:nvSpPr>
        <p:spPr>
          <a:xfrm>
            <a:off x="838199" y="1952472"/>
            <a:ext cx="5147663" cy="4337568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rgbClr val="444391"/>
                </a:solidFill>
              </a:defRPr>
            </a:lvl1pPr>
          </a:lstStyle>
          <a:p>
            <a:pPr lvl="0"/>
            <a:r>
              <a:rPr lang="ru-RU" dirty="0"/>
              <a:t>Образец подзаголовок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 rot="16200000">
            <a:off x="6107539" y="-4941111"/>
            <a:ext cx="815121" cy="11353801"/>
          </a:xfrm>
          <a:prstGeom prst="rect">
            <a:avLst/>
          </a:prstGeom>
          <a:gradFill>
            <a:gsLst>
              <a:gs pos="0">
                <a:srgbClr val="764596"/>
              </a:gs>
              <a:gs pos="100000">
                <a:srgbClr val="44439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037344" y="328228"/>
            <a:ext cx="10316455" cy="815122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8" y="234870"/>
            <a:ext cx="787632" cy="1064695"/>
          </a:xfrm>
          <a:prstGeom prst="rect">
            <a:avLst/>
          </a:prstGeom>
        </p:spPr>
      </p:pic>
      <p:sp>
        <p:nvSpPr>
          <p:cNvPr id="8" name="Параллелограмм 7"/>
          <p:cNvSpPr/>
          <p:nvPr userDrawn="1"/>
        </p:nvSpPr>
        <p:spPr>
          <a:xfrm rot="13887111">
            <a:off x="10286727" y="577276"/>
            <a:ext cx="2146752" cy="416832"/>
          </a:xfrm>
          <a:prstGeom prst="parallelogram">
            <a:avLst>
              <a:gd name="adj" fmla="val 791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бъект 2"/>
          <p:cNvSpPr>
            <a:spLocks noGrp="1"/>
          </p:cNvSpPr>
          <p:nvPr>
            <p:ph idx="1" hasCustomPrompt="1"/>
          </p:nvPr>
        </p:nvSpPr>
        <p:spPr>
          <a:xfrm>
            <a:off x="838199" y="1786301"/>
            <a:ext cx="5067301" cy="43513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Кликните чтобы вставить фото</a:t>
            </a:r>
          </a:p>
        </p:txBody>
      </p:sp>
      <p:sp>
        <p:nvSpPr>
          <p:cNvPr id="13" name="Объект 2"/>
          <p:cNvSpPr>
            <a:spLocks noGrp="1"/>
          </p:cNvSpPr>
          <p:nvPr>
            <p:ph idx="10" hasCustomPrompt="1"/>
          </p:nvPr>
        </p:nvSpPr>
        <p:spPr>
          <a:xfrm>
            <a:off x="6286499" y="1786301"/>
            <a:ext cx="5067301" cy="4351338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Кликните чтобы вставить фото</a:t>
            </a:r>
          </a:p>
        </p:txBody>
      </p:sp>
      <p:sp>
        <p:nvSpPr>
          <p:cNvPr id="14" name="Текст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199" y="1304543"/>
            <a:ext cx="10515601" cy="486736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rgbClr val="444391"/>
                </a:solidFill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 rot="16200000">
            <a:off x="6107539" y="-4941111"/>
            <a:ext cx="815121" cy="11353801"/>
          </a:xfrm>
          <a:prstGeom prst="rect">
            <a:avLst/>
          </a:prstGeom>
          <a:gradFill>
            <a:gsLst>
              <a:gs pos="0">
                <a:srgbClr val="764596"/>
              </a:gs>
              <a:gs pos="100000">
                <a:srgbClr val="44439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060396" y="328228"/>
            <a:ext cx="10293403" cy="815122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8" y="234870"/>
            <a:ext cx="787632" cy="1064695"/>
          </a:xfrm>
          <a:prstGeom prst="rect">
            <a:avLst/>
          </a:prstGeom>
        </p:spPr>
      </p:pic>
      <p:sp>
        <p:nvSpPr>
          <p:cNvPr id="8" name="Параллелограмм 7"/>
          <p:cNvSpPr/>
          <p:nvPr userDrawn="1"/>
        </p:nvSpPr>
        <p:spPr>
          <a:xfrm rot="13887111">
            <a:off x="10286727" y="500436"/>
            <a:ext cx="2146752" cy="416832"/>
          </a:xfrm>
          <a:prstGeom prst="parallelogram">
            <a:avLst>
              <a:gd name="adj" fmla="val 791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бъект 2"/>
          <p:cNvSpPr>
            <a:spLocks noGrp="1"/>
          </p:cNvSpPr>
          <p:nvPr>
            <p:ph idx="1" hasCustomPrompt="1"/>
          </p:nvPr>
        </p:nvSpPr>
        <p:spPr>
          <a:xfrm>
            <a:off x="838200" y="1299565"/>
            <a:ext cx="10515600" cy="4990474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44439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Вставьте текст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 userDrawn="1"/>
        </p:nvSpPr>
        <p:spPr>
          <a:xfrm rot="16200000">
            <a:off x="2620269" y="-1453842"/>
            <a:ext cx="815121" cy="4379261"/>
          </a:xfrm>
          <a:prstGeom prst="rect">
            <a:avLst/>
          </a:prstGeom>
          <a:gradFill>
            <a:gsLst>
              <a:gs pos="0">
                <a:srgbClr val="764596"/>
              </a:gs>
              <a:gs pos="100000">
                <a:srgbClr val="44439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араллелограмм 13"/>
          <p:cNvSpPr/>
          <p:nvPr userDrawn="1"/>
        </p:nvSpPr>
        <p:spPr>
          <a:xfrm rot="13887111">
            <a:off x="4203859" y="727299"/>
            <a:ext cx="2146752" cy="150770"/>
          </a:xfrm>
          <a:prstGeom prst="parallelogram">
            <a:avLst>
              <a:gd name="adj" fmla="val 791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952820" y="328229"/>
            <a:ext cx="4264640" cy="815122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8" y="234871"/>
            <a:ext cx="787632" cy="1064695"/>
          </a:xfrm>
          <a:prstGeom prst="rect">
            <a:avLst/>
          </a:prstGeom>
        </p:spPr>
      </p:pic>
      <p:sp>
        <p:nvSpPr>
          <p:cNvPr id="11" name="Объект 2"/>
          <p:cNvSpPr>
            <a:spLocks noGrp="1"/>
          </p:cNvSpPr>
          <p:nvPr>
            <p:ph idx="10" hasCustomPrompt="1"/>
          </p:nvPr>
        </p:nvSpPr>
        <p:spPr>
          <a:xfrm>
            <a:off x="5484576" y="328229"/>
            <a:ext cx="6438483" cy="6147228"/>
          </a:xfr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Кликните чтобы вставить фото</a:t>
            </a:r>
          </a:p>
        </p:txBody>
      </p:sp>
      <p:sp>
        <p:nvSpPr>
          <p:cNvPr id="13" name="Объект 2"/>
          <p:cNvSpPr>
            <a:spLocks noGrp="1"/>
          </p:cNvSpPr>
          <p:nvPr>
            <p:ph idx="1" hasCustomPrompt="1"/>
          </p:nvPr>
        </p:nvSpPr>
        <p:spPr>
          <a:xfrm>
            <a:off x="838200" y="1299566"/>
            <a:ext cx="4379260" cy="4990474"/>
          </a:xfr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44439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Вставьте текст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 userDrawn="1"/>
        </p:nvSpPr>
        <p:spPr>
          <a:xfrm rot="16200000">
            <a:off x="2620269" y="-1453842"/>
            <a:ext cx="815121" cy="4379261"/>
          </a:xfrm>
          <a:prstGeom prst="rect">
            <a:avLst/>
          </a:prstGeom>
          <a:gradFill>
            <a:gsLst>
              <a:gs pos="0">
                <a:srgbClr val="764596"/>
              </a:gs>
              <a:gs pos="100000">
                <a:srgbClr val="44439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араллелограмм 13"/>
          <p:cNvSpPr/>
          <p:nvPr userDrawn="1"/>
        </p:nvSpPr>
        <p:spPr>
          <a:xfrm rot="13887111">
            <a:off x="4203859" y="727299"/>
            <a:ext cx="2146752" cy="150770"/>
          </a:xfrm>
          <a:prstGeom prst="parallelogram">
            <a:avLst>
              <a:gd name="adj" fmla="val 7917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999720" y="328229"/>
            <a:ext cx="4217740" cy="815122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8" y="234871"/>
            <a:ext cx="787632" cy="1064695"/>
          </a:xfrm>
          <a:prstGeom prst="rect">
            <a:avLst/>
          </a:prstGeom>
        </p:spPr>
      </p:pic>
      <p:sp>
        <p:nvSpPr>
          <p:cNvPr id="11" name="Объект 2"/>
          <p:cNvSpPr>
            <a:spLocks noGrp="1"/>
          </p:cNvSpPr>
          <p:nvPr>
            <p:ph idx="10" hasCustomPrompt="1"/>
          </p:nvPr>
        </p:nvSpPr>
        <p:spPr>
          <a:xfrm>
            <a:off x="8840636" y="3403122"/>
            <a:ext cx="3082423" cy="2942985"/>
          </a:xfr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Кликните чтобы вставить фото</a:t>
            </a:r>
          </a:p>
        </p:txBody>
      </p:sp>
      <p:sp>
        <p:nvSpPr>
          <p:cNvPr id="13" name="Объект 2"/>
          <p:cNvSpPr>
            <a:spLocks noGrp="1"/>
          </p:cNvSpPr>
          <p:nvPr>
            <p:ph idx="1" hasCustomPrompt="1"/>
          </p:nvPr>
        </p:nvSpPr>
        <p:spPr>
          <a:xfrm>
            <a:off x="838200" y="1299566"/>
            <a:ext cx="4379260" cy="5046540"/>
          </a:xfrm>
          <a:solidFill>
            <a:schemeClr val="bg1"/>
          </a:solidFill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44439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Вставьте текст</a:t>
            </a:r>
          </a:p>
        </p:txBody>
      </p:sp>
      <p:sp>
        <p:nvSpPr>
          <p:cNvPr id="8" name="Объект 2"/>
          <p:cNvSpPr>
            <a:spLocks noGrp="1"/>
          </p:cNvSpPr>
          <p:nvPr>
            <p:ph idx="11" hasCustomPrompt="1"/>
          </p:nvPr>
        </p:nvSpPr>
        <p:spPr>
          <a:xfrm>
            <a:off x="5596693" y="3403121"/>
            <a:ext cx="3082423" cy="2942985"/>
          </a:xfr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Кликните чтобы вставить фото</a:t>
            </a:r>
          </a:p>
        </p:txBody>
      </p:sp>
      <p:sp>
        <p:nvSpPr>
          <p:cNvPr id="9" name="Объект 2"/>
          <p:cNvSpPr>
            <a:spLocks noGrp="1"/>
          </p:cNvSpPr>
          <p:nvPr>
            <p:ph idx="12" hasCustomPrompt="1"/>
          </p:nvPr>
        </p:nvSpPr>
        <p:spPr>
          <a:xfrm>
            <a:off x="8840636" y="328228"/>
            <a:ext cx="3082423" cy="2942985"/>
          </a:xfr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Кликните чтобы вставить фото</a:t>
            </a:r>
          </a:p>
        </p:txBody>
      </p:sp>
      <p:sp>
        <p:nvSpPr>
          <p:cNvPr id="10" name="Объект 2"/>
          <p:cNvSpPr>
            <a:spLocks noGrp="1"/>
          </p:cNvSpPr>
          <p:nvPr>
            <p:ph idx="13" hasCustomPrompt="1"/>
          </p:nvPr>
        </p:nvSpPr>
        <p:spPr>
          <a:xfrm>
            <a:off x="5596693" y="328227"/>
            <a:ext cx="3082423" cy="2942985"/>
          </a:xfr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Кликните чтобы вставить фото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3"/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FE0170-5F17-4EB0-BFA4-80529005E784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B0E90D-BAE5-4CAD-8485-89BE0E092D99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Проектирование и разработка приложения для планирования и учёта рабочего времени сотрудника </a:t>
            </a:r>
            <a:endParaRPr lang="ru-RU" sz="2000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Бондарев Иван Дмитриевич</a:t>
            </a:r>
          </a:p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dirty="0"/>
              <a:t>ИСП222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ru-RU" dirty="0"/>
              <a:t>ЛИСАВИНА А. В.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Цель</a:t>
            </a:r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Цель проекта включает в себя проектирование и разработку приложение для планирования и учёта рабочего времени сотрудников с учётом требований корпоративной среды.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ru-RU" sz="2400" dirty="0"/>
          </a:p>
          <a:p>
            <a:pPr algn="just">
              <a:buFont typeface="Arial" panose="020B0604020202020204" pitchFamily="34" charset="0"/>
            </a:pPr>
            <a:endParaRPr lang="ru-RU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Задачи</a:t>
            </a:r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>
          <a:xfrm>
            <a:off x="761999" y="1143350"/>
            <a:ext cx="10515600" cy="4990474"/>
          </a:xfrm>
        </p:spPr>
        <p:txBody>
          <a:bodyPr>
            <a:normAutofit/>
          </a:bodyPr>
          <a:lstStyle/>
          <a:p>
            <a:pPr marL="457200" lvl="0" indent="-457200">
              <a:buFont typeface="+mj-lt"/>
              <a:buAutoNum type="arabicParenR"/>
            </a:pPr>
            <a:r>
              <a:rPr lang="ru-RU" sz="2400" dirty="0"/>
              <a:t>Проанализировать предметную область и выявить ключевые бизнес‑процессы учёта рабочего времени.</a:t>
            </a:r>
          </a:p>
          <a:p>
            <a:pPr marL="457200" lvl="0" indent="-457200">
              <a:buFont typeface="+mj-lt"/>
              <a:buAutoNum type="arabicParenR"/>
            </a:pPr>
            <a:r>
              <a:rPr lang="ru-RU" sz="2400" dirty="0"/>
              <a:t>Сформулировать функциональные и нефункциональные требования к системе.</a:t>
            </a:r>
          </a:p>
          <a:p>
            <a:pPr marL="457200" lvl="0" indent="-457200">
              <a:buFont typeface="+mj-lt"/>
              <a:buAutoNum type="arabicParenR"/>
            </a:pPr>
            <a:r>
              <a:rPr lang="ru-RU" sz="2400" dirty="0"/>
              <a:t>Выбрать и обосновать технологический стек для реализации.</a:t>
            </a:r>
          </a:p>
          <a:p>
            <a:pPr marL="457200" lvl="0" indent="-457200">
              <a:buFont typeface="+mj-lt"/>
              <a:buAutoNum type="arabicParenR"/>
            </a:pPr>
            <a:r>
              <a:rPr lang="ru-RU" sz="2400" dirty="0"/>
              <a:t>Спроектировать архитектуру системы, включая базу данных и пользовательский интерфейс.</a:t>
            </a:r>
          </a:p>
          <a:p>
            <a:pPr marL="457200" lvl="0" indent="-457200">
              <a:buFont typeface="+mj-lt"/>
              <a:buAutoNum type="arabicParenR"/>
            </a:pPr>
            <a:r>
              <a:rPr lang="ru-RU" sz="2400" dirty="0"/>
              <a:t>Разработать клиент‑серверное приложение на C# с использованием Visual Studio 2026.</a:t>
            </a:r>
          </a:p>
          <a:p>
            <a:pPr marL="457200" lvl="0" indent="-457200">
              <a:buFont typeface="+mj-lt"/>
              <a:buAutoNum type="arabicParenR"/>
            </a:pPr>
            <a:r>
              <a:rPr lang="ru-RU" sz="2400" dirty="0"/>
              <a:t>Протестировать систему на соответствие заявленным требованиям.</a:t>
            </a:r>
          </a:p>
          <a:p>
            <a:endParaRPr lang="ru-RU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Актуальность</a:t>
            </a:r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</a:pPr>
            <a:r>
              <a:rPr lang="en-US" altLang="en-US" sz="2400" dirty="0"/>
              <a:t>Актуальность</a:t>
            </a:r>
            <a:r>
              <a:rPr lang="en-US" altLang="ru-RU" sz="2400" dirty="0"/>
              <a:t> </a:t>
            </a:r>
            <a:r>
              <a:rPr lang="en-US" altLang="en-US" sz="2400" dirty="0"/>
              <a:t>автоматизации</a:t>
            </a:r>
            <a:r>
              <a:rPr lang="en-US" altLang="ru-RU" sz="2400" dirty="0"/>
              <a:t> </a:t>
            </a:r>
            <a:r>
              <a:rPr lang="ru-RU" altLang="en-US" sz="2400" dirty="0"/>
              <a:t>учёта времени сотрудников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altLang="en-US" sz="2400" dirty="0"/>
              <a:t>Исключение ошибок ручного ввода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altLang="en-US" sz="2400" dirty="0"/>
              <a:t>Быстрый доступ к аналитике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altLang="en-US" sz="2400" dirty="0"/>
              <a:t>единое хранилище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Используемый стек технологий</a:t>
            </a:r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dirty="0"/>
              <a:t>С учётом выявленных требований к системе выбран следующий технологический стек на базе </a:t>
            </a:r>
            <a:r>
              <a:rPr lang="en-US" dirty="0"/>
              <a:t>Visual Studio</a:t>
            </a:r>
            <a:r>
              <a:rPr lang="ru-RU" dirty="0"/>
              <a:t> 2026 и </a:t>
            </a:r>
            <a:r>
              <a:rPr lang="en-US" dirty="0"/>
              <a:t>C</a:t>
            </a:r>
            <a:r>
              <a:rPr lang="ru-RU" dirty="0"/>
              <a:t># </a:t>
            </a:r>
            <a:r>
              <a:rPr lang="en-US" dirty="0"/>
              <a:t>Windows Forms</a:t>
            </a:r>
            <a:r>
              <a:rPr lang="ru-RU" dirty="0"/>
              <a:t>, для БД(база данных) была выбрана </a:t>
            </a:r>
            <a:r>
              <a:rPr lang="en-US" dirty="0"/>
              <a:t>MSSQL</a:t>
            </a:r>
            <a:r>
              <a:rPr lang="ru-RU" dirty="0"/>
              <a:t>(</a:t>
            </a:r>
            <a:r>
              <a:rPr lang="en-US" dirty="0"/>
              <a:t>Microsoft SQL Server</a:t>
            </a:r>
            <a:r>
              <a:rPr lang="ru-RU" dirty="0"/>
              <a:t>).</a:t>
            </a:r>
          </a:p>
          <a:p>
            <a:pPr algn="just"/>
            <a:r>
              <a:rPr lang="ru-RU" sz="2000" dirty="0"/>
              <a:t>С</a:t>
            </a:r>
            <a:r>
              <a:rPr lang="en-US" sz="2000" dirty="0"/>
              <a:t>#</a:t>
            </a:r>
            <a:r>
              <a:rPr lang="ru-RU" sz="2000" dirty="0"/>
              <a:t> выбрана по причине: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ru-RU" dirty="0"/>
              <a:t>полная совместимость с Windows (основная платформа пользователей);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ru-RU" dirty="0"/>
              <a:t>поддержка .NET 8.0 с его возможностями асинхронного программирования.</a:t>
            </a:r>
          </a:p>
          <a:p>
            <a:pPr algn="just"/>
            <a:r>
              <a:rPr lang="en-US" dirty="0"/>
              <a:t>Visual Studio 2026 </a:t>
            </a:r>
            <a:r>
              <a:rPr lang="ru-RU" dirty="0"/>
              <a:t>выбрана из-за полной </a:t>
            </a:r>
            <a:r>
              <a:rPr lang="en-US" dirty="0"/>
              <a:t>поддержк</a:t>
            </a:r>
            <a:r>
              <a:rPr lang="ru-RU" dirty="0"/>
              <a:t>и </a:t>
            </a:r>
            <a:r>
              <a:rPr lang="en-US" dirty="0"/>
              <a:t>.NET 8.0</a:t>
            </a:r>
            <a:r>
              <a:rPr lang="ru-RU" dirty="0"/>
              <a:t>, а так же: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US" dirty="0"/>
              <a:t>нативная компиляция и отладка C#‑кода</a:t>
            </a:r>
            <a:endParaRPr lang="ru-RU" dirty="0"/>
          </a:p>
          <a:p>
            <a:pPr marL="342900" indent="-342900" algn="just">
              <a:buFont typeface="+mj-lt"/>
              <a:buAutoNum type="arabicParenR"/>
            </a:pPr>
            <a:r>
              <a:rPr lang="ru-RU" dirty="0"/>
              <a:t>визуальный конструктор форм;</a:t>
            </a:r>
          </a:p>
          <a:p>
            <a:pPr algn="just"/>
            <a:r>
              <a:rPr lang="ru-RU" dirty="0"/>
              <a:t>Для базы данных </a:t>
            </a:r>
            <a:r>
              <a:rPr lang="en-US" dirty="0"/>
              <a:t>выбран MSSQL</a:t>
            </a:r>
            <a:r>
              <a:rPr lang="ru-RU" dirty="0"/>
              <a:t>(</a:t>
            </a:r>
            <a:r>
              <a:rPr lang="en-US" dirty="0"/>
              <a:t>Microsoft SQL Server Express</a:t>
            </a:r>
            <a:r>
              <a:rPr lang="ru-RU" dirty="0"/>
              <a:t>)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US" dirty="0"/>
              <a:t>Бесплатная редакция с полным функционалом</a:t>
            </a:r>
            <a:endParaRPr lang="ru-RU" dirty="0"/>
          </a:p>
          <a:p>
            <a:pPr marL="342900" indent="-342900" algn="just">
              <a:buFont typeface="+mj-lt"/>
              <a:buAutoNum type="arabicParenR"/>
            </a:pPr>
            <a:r>
              <a:rPr lang="ru-RU" dirty="0"/>
              <a:t>оптимизация запросов через LINQ to SQL;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ru-RU" dirty="0"/>
          </a:p>
          <a:p>
            <a:pPr algn="just"/>
            <a:endParaRPr lang="ru-RU" sz="2000" dirty="0"/>
          </a:p>
        </p:txBody>
      </p:sp>
      <p:pic>
        <p:nvPicPr>
          <p:cNvPr id="1026" name="Picture 2" descr="GitHub - daniel2IT/CarAndGoWebApp: Here is a ASP.NET Core MVC Application, whe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7047" y="3794802"/>
            <a:ext cx="2547025" cy="1591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icture backgroun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1513" y="1760842"/>
            <a:ext cx="1444160" cy="1668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Диаграмма «сущность-связь»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624" y="1423551"/>
            <a:ext cx="9975822" cy="4010898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Диаграмма вариантов использования</a:t>
            </a: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/>
              <a:t>Администратор: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/>
              <a:t>Создание или редактирование пользователя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/>
              <a:t>Просматривание журнала аудита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/>
              <a:t>Управление ролями</a:t>
            </a:r>
          </a:p>
          <a:p>
            <a:pPr>
              <a:buFont typeface="Arial" panose="020B0604020202020204" pitchFamily="34" charset="0"/>
            </a:pPr>
            <a:r>
              <a:rPr lang="ru-RU"/>
              <a:t>Менеджер: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/>
              <a:t>Отслеживание прогресса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/>
              <a:t>Назначение прогресса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/>
              <a:t>Создание и редактирование прогресса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/>
              <a:t>создание задачи</a:t>
            </a:r>
          </a:p>
          <a:p>
            <a:pPr>
              <a:buFont typeface="Arial" panose="020B0604020202020204" pitchFamily="34" charset="0"/>
            </a:pPr>
            <a:r>
              <a:rPr lang="ru-RU"/>
              <a:t>Сотрудник: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/>
              <a:t>Добавлять коментарии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/>
              <a:t>обновлять статут задачи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/>
              <a:t>фиксировать рабочее время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3CD9A58-87A8-452E-8B0F-A7329B1A36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9517" y="1167107"/>
            <a:ext cx="2777176" cy="45237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/>
              <a:t>Диаграмма активностей</a:t>
            </a:r>
            <a:endParaRPr lang="ru-RU" dirty="0"/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457200"/>
            <a:endParaRPr lang="ru-RU"/>
          </a:p>
        </p:txBody>
      </p:sp>
      <p:pic>
        <p:nvPicPr>
          <p:cNvPr id="3" name="Изображение 2" descr="диаграмма активностей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8820" y="1293495"/>
            <a:ext cx="5897245" cy="49968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Интерфейс системы</a:t>
            </a:r>
          </a:p>
        </p:txBody>
      </p:sp>
      <p:pic>
        <p:nvPicPr>
          <p:cNvPr id="4" name="Изображение 3" descr="Рисунок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90955"/>
            <a:ext cx="4159885" cy="4411980"/>
          </a:xfrm>
          <a:prstGeom prst="rect">
            <a:avLst/>
          </a:prstGeom>
        </p:spPr>
      </p:pic>
      <p:sp>
        <p:nvSpPr>
          <p:cNvPr id="7" name="Текстовое поле 6"/>
          <p:cNvSpPr txBox="1"/>
          <p:nvPr/>
        </p:nvSpPr>
        <p:spPr>
          <a:xfrm>
            <a:off x="1037590" y="1374775"/>
            <a:ext cx="4749800" cy="30460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400"/>
              <a:t>LoginForm</a:t>
            </a:r>
            <a:br>
              <a:rPr lang="ru-RU" altLang="en-US" sz="2400"/>
            </a:br>
            <a:r>
              <a:rPr lang="ru-RU" altLang="en-US" sz="2400"/>
              <a:t>Форма авториации с полем ввода Логина и пароля, а так же выбором роли.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Интерфейс системы</a:t>
            </a:r>
          </a:p>
        </p:txBody>
      </p:sp>
      <p:pic>
        <p:nvPicPr>
          <p:cNvPr id="2" name="Изображение 1" descr="Рисунок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645" y="1143635"/>
            <a:ext cx="10510520" cy="3288665"/>
          </a:xfrm>
          <a:prstGeom prst="rect">
            <a:avLst/>
          </a:prstGeom>
        </p:spPr>
      </p:pic>
      <p:sp>
        <p:nvSpPr>
          <p:cNvPr id="3" name="Текстовое поле 2"/>
          <p:cNvSpPr txBox="1"/>
          <p:nvPr/>
        </p:nvSpPr>
        <p:spPr>
          <a:xfrm>
            <a:off x="647700" y="4740275"/>
            <a:ext cx="4064000" cy="16249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400"/>
              <a:t>MainForm</a:t>
            </a:r>
            <a:r>
              <a:rPr lang="ru-RU" altLang="en-US" sz="2400"/>
              <a:t> </a:t>
            </a:r>
            <a:br>
              <a:rPr lang="ru-RU" altLang="en-US" sz="2400"/>
            </a:br>
            <a:r>
              <a:rPr lang="ru-RU" altLang="en-US" sz="2000"/>
              <a:t>Главная форма Где пользователь программы может выбрать необходимую вкладку.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Интерфейс системы</a:t>
            </a:r>
          </a:p>
        </p:txBody>
      </p:sp>
      <p:pic>
        <p:nvPicPr>
          <p:cNvPr id="2" name="Изображение 1" descr="Рисунок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990" y="1143635"/>
            <a:ext cx="10565130" cy="3547110"/>
          </a:xfrm>
          <a:prstGeom prst="rect">
            <a:avLst/>
          </a:prstGeom>
        </p:spPr>
      </p:pic>
      <p:sp>
        <p:nvSpPr>
          <p:cNvPr id="3" name="Текстовое поле 2"/>
          <p:cNvSpPr txBox="1"/>
          <p:nvPr/>
        </p:nvSpPr>
        <p:spPr>
          <a:xfrm>
            <a:off x="1037590" y="4781550"/>
            <a:ext cx="406400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en-US" sz="2400"/>
              <a:t>Вкладка «Учёт времени»</a:t>
            </a:r>
          </a:p>
          <a:p>
            <a:r>
              <a:rPr lang="ru-RU" altLang="en-US" sz="2000"/>
              <a:t>пользователю даётся возможность создать запись описав её и выбрав время на выполнение.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Интерфейс системы</a:t>
            </a:r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844550" y="5265420"/>
            <a:ext cx="64001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en-US"/>
              <a:t>Вкладка «Управление задачами»</a:t>
            </a:r>
          </a:p>
          <a:p>
            <a:r>
              <a:rPr lang="ru-RU" altLang="en-US"/>
              <a:t>ползователь может добавлять, удалять редактировать задачи.</a:t>
            </a:r>
          </a:p>
          <a:p>
            <a:r>
              <a:rPr lang="ru-RU" altLang="en-US"/>
              <a:t>Так же может обновлять и сохранить списки.</a:t>
            </a:r>
          </a:p>
        </p:txBody>
      </p:sp>
      <p:pic>
        <p:nvPicPr>
          <p:cNvPr id="8" name="Изображение 7" descr="Снимок экрана (35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550" y="1143635"/>
            <a:ext cx="10509885" cy="41217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Интерфейс системы</a:t>
            </a:r>
          </a:p>
        </p:txBody>
      </p:sp>
      <p:pic>
        <p:nvPicPr>
          <p:cNvPr id="2" name="Изображение 1" descr="Рисунок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450" y="1009650"/>
            <a:ext cx="6664960" cy="4496435"/>
          </a:xfrm>
          <a:prstGeom prst="rect">
            <a:avLst/>
          </a:prstGeom>
        </p:spPr>
      </p:pic>
      <p:sp>
        <p:nvSpPr>
          <p:cNvPr id="3" name="Текстовое поле 2"/>
          <p:cNvSpPr txBox="1"/>
          <p:nvPr/>
        </p:nvSpPr>
        <p:spPr>
          <a:xfrm>
            <a:off x="7562850" y="1250950"/>
            <a:ext cx="40640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en-US"/>
              <a:t>В вкладке «Отчёт» пользователь может выбрать по чему сделать отчёт, а после нажатия на кнопку «Сформировать  отчёт» отобразится выбранная информация.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Фрагмент программного кода</a:t>
            </a:r>
          </a:p>
        </p:txBody>
      </p:sp>
      <p:sp>
        <p:nvSpPr>
          <p:cNvPr id="2" name="Объект 1"/>
          <p:cNvSpPr>
            <a:spLocks noGrp="1"/>
          </p:cNvSpPr>
          <p:nvPr>
            <p:ph idx="1"/>
          </p:nvPr>
        </p:nvSpPr>
        <p:spPr/>
        <p:txBody>
          <a:bodyPr numCol="3">
            <a:noAutofit/>
          </a:bodyPr>
          <a:lstStyle/>
          <a:p>
            <a:pPr algn="just">
              <a:lnSpc>
                <a:spcPct val="170000"/>
              </a:lnSpc>
              <a:spcBef>
                <a:spcPts val="0"/>
              </a:spcBef>
            </a:pPr>
            <a:r>
              <a:rPr lang="en-US" sz="800" dirty="0"/>
              <a:t>        private void UpdateUI()</a:t>
            </a:r>
          </a:p>
          <a:p>
            <a:pPr algn="just">
              <a:lnSpc>
                <a:spcPct val="170000"/>
              </a:lnSpc>
              <a:spcBef>
                <a:spcPts val="0"/>
              </a:spcBef>
            </a:pPr>
            <a:r>
              <a:rPr lang="en-US" sz="800" dirty="0"/>
              <a:t>        {</a:t>
            </a:r>
          </a:p>
          <a:p>
            <a:pPr algn="just">
              <a:lnSpc>
                <a:spcPct val="170000"/>
              </a:lnSpc>
              <a:spcBef>
                <a:spcPts val="0"/>
              </a:spcBef>
            </a:pPr>
            <a:r>
              <a:rPr lang="en-US" sz="800" dirty="0"/>
              <a:t>            switch (currentUser.Role.RoleName)</a:t>
            </a:r>
          </a:p>
          <a:p>
            <a:pPr algn="just">
              <a:lnSpc>
                <a:spcPct val="170000"/>
              </a:lnSpc>
              <a:spcBef>
                <a:spcPts val="0"/>
              </a:spcBef>
            </a:pPr>
            <a:r>
              <a:rPr lang="en-US" sz="800" dirty="0"/>
              <a:t>            {</a:t>
            </a:r>
          </a:p>
          <a:p>
            <a:pPr algn="just">
              <a:lnSpc>
                <a:spcPct val="170000"/>
              </a:lnSpc>
              <a:spcBef>
                <a:spcPts val="0"/>
              </a:spcBef>
            </a:pPr>
            <a:r>
              <a:rPr lang="en-US" sz="800" dirty="0"/>
              <a:t>                case "Admin":</a:t>
            </a:r>
          </a:p>
          <a:p>
            <a:pPr algn="just">
              <a:lnSpc>
                <a:spcPct val="170000"/>
              </a:lnSpc>
              <a:spcBef>
                <a:spcPts val="0"/>
              </a:spcBef>
            </a:pPr>
            <a:r>
              <a:rPr lang="en-US" sz="800" dirty="0"/>
              <a:t>                    menuItemTimeTracking.Enabled = true;</a:t>
            </a:r>
          </a:p>
          <a:p>
            <a:pPr algn="just">
              <a:lnSpc>
                <a:spcPct val="170000"/>
              </a:lnSpc>
              <a:spcBef>
                <a:spcPts val="0"/>
              </a:spcBef>
            </a:pPr>
            <a:r>
              <a:rPr lang="en-US" sz="800" dirty="0"/>
              <a:t>                    menuItemTaskManagement.Enabled = true;</a:t>
            </a:r>
          </a:p>
          <a:p>
            <a:pPr algn="just">
              <a:lnSpc>
                <a:spcPct val="170000"/>
              </a:lnSpc>
              <a:spcBef>
                <a:spcPts val="0"/>
              </a:spcBef>
            </a:pPr>
            <a:r>
              <a:rPr lang="en-US" sz="800" dirty="0"/>
              <a:t>                    menuItemReporting.Enabled = true;</a:t>
            </a:r>
          </a:p>
          <a:p>
            <a:pPr algn="just">
              <a:lnSpc>
                <a:spcPct val="170000"/>
              </a:lnSpc>
              <a:spcBef>
                <a:spcPts val="0"/>
              </a:spcBef>
            </a:pPr>
            <a:r>
              <a:rPr lang="en-US" sz="800" dirty="0"/>
              <a:t>                    break;</a:t>
            </a:r>
          </a:p>
          <a:p>
            <a:pPr algn="just">
              <a:lnSpc>
                <a:spcPct val="170000"/>
              </a:lnSpc>
              <a:spcBef>
                <a:spcPts val="0"/>
              </a:spcBef>
            </a:pPr>
            <a:r>
              <a:rPr lang="en-US" sz="800" dirty="0"/>
              <a:t>                case "Manager":</a:t>
            </a:r>
          </a:p>
          <a:p>
            <a:pPr algn="just">
              <a:lnSpc>
                <a:spcPct val="170000"/>
              </a:lnSpc>
              <a:spcBef>
                <a:spcPts val="0"/>
              </a:spcBef>
            </a:pPr>
            <a:r>
              <a:rPr lang="en-US" sz="800" dirty="0"/>
              <a:t>                    menuItemTimeTracking.Enabled = true;</a:t>
            </a:r>
          </a:p>
          <a:p>
            <a:pPr algn="just">
              <a:lnSpc>
                <a:spcPct val="170000"/>
              </a:lnSpc>
              <a:spcBef>
                <a:spcPts val="0"/>
              </a:spcBef>
            </a:pPr>
            <a:r>
              <a:rPr lang="en-US" sz="800" dirty="0"/>
              <a:t>                    menuItemTaskManagement.Enabled = true;</a:t>
            </a:r>
          </a:p>
          <a:p>
            <a:pPr algn="just">
              <a:lnSpc>
                <a:spcPct val="170000"/>
              </a:lnSpc>
              <a:spcBef>
                <a:spcPts val="0"/>
              </a:spcBef>
            </a:pPr>
            <a:r>
              <a:rPr lang="en-US" sz="800" dirty="0"/>
              <a:t>                    menuItemReporting.Enabled = true;</a:t>
            </a:r>
          </a:p>
          <a:p>
            <a:pPr algn="just">
              <a:lnSpc>
                <a:spcPct val="170000"/>
              </a:lnSpc>
              <a:spcBef>
                <a:spcPts val="0"/>
              </a:spcBef>
            </a:pPr>
            <a:r>
              <a:rPr lang="en-US" sz="800" dirty="0"/>
              <a:t>                    break;</a:t>
            </a:r>
          </a:p>
          <a:p>
            <a:pPr algn="just">
              <a:lnSpc>
                <a:spcPct val="170000"/>
              </a:lnSpc>
              <a:spcBef>
                <a:spcPts val="0"/>
              </a:spcBef>
            </a:pPr>
            <a:r>
              <a:rPr lang="en-US" sz="800" dirty="0"/>
              <a:t>                case "Employee":</a:t>
            </a:r>
          </a:p>
          <a:p>
            <a:pPr algn="just">
              <a:lnSpc>
                <a:spcPct val="170000"/>
              </a:lnSpc>
              <a:spcBef>
                <a:spcPts val="0"/>
              </a:spcBef>
            </a:pPr>
            <a:r>
              <a:rPr lang="en-US" sz="800" dirty="0"/>
              <a:t>                    menuItemTimeTracking.Enabled = true;</a:t>
            </a:r>
          </a:p>
          <a:p>
            <a:pPr algn="just">
              <a:lnSpc>
                <a:spcPct val="170000"/>
              </a:lnSpc>
              <a:spcBef>
                <a:spcPts val="0"/>
              </a:spcBef>
            </a:pPr>
            <a:r>
              <a:rPr lang="en-US" sz="800" dirty="0"/>
              <a:t>                    menuItemTaskManagement.Enabled = false;</a:t>
            </a:r>
          </a:p>
          <a:p>
            <a:pPr algn="just">
              <a:lnSpc>
                <a:spcPct val="170000"/>
              </a:lnSpc>
              <a:spcBef>
                <a:spcPts val="0"/>
              </a:spcBef>
            </a:pPr>
            <a:r>
              <a:rPr lang="en-US" sz="800" dirty="0"/>
              <a:t>                    menuItemReporting.Enabled = true;</a:t>
            </a:r>
          </a:p>
          <a:p>
            <a:pPr algn="just">
              <a:lnSpc>
                <a:spcPct val="170000"/>
              </a:lnSpc>
              <a:spcBef>
                <a:spcPts val="0"/>
              </a:spcBef>
            </a:pPr>
            <a:r>
              <a:rPr lang="en-US" sz="800" dirty="0"/>
              <a:t>                    break;</a:t>
            </a:r>
          </a:p>
          <a:p>
            <a:pPr algn="just">
              <a:lnSpc>
                <a:spcPct val="170000"/>
              </a:lnSpc>
              <a:spcBef>
                <a:spcPts val="0"/>
              </a:spcBef>
            </a:pPr>
            <a:r>
              <a:rPr lang="en-US" sz="800" dirty="0"/>
              <a:t>            }</a:t>
            </a:r>
            <a:endParaRPr lang="ru-RU" sz="800" dirty="0"/>
          </a:p>
          <a:p>
            <a:pPr algn="just">
              <a:lnSpc>
                <a:spcPct val="170000"/>
              </a:lnSpc>
              <a:spcBef>
                <a:spcPts val="0"/>
              </a:spcBef>
            </a:pPr>
            <a:endParaRPr lang="ru-RU" sz="800" dirty="0"/>
          </a:p>
          <a:p>
            <a:pPr algn="just">
              <a:lnSpc>
                <a:spcPct val="170000"/>
              </a:lnSpc>
              <a:spcBef>
                <a:spcPts val="0"/>
              </a:spcBef>
            </a:pPr>
            <a:endParaRPr lang="ru-RU" sz="800" dirty="0"/>
          </a:p>
          <a:p>
            <a:pPr algn="just">
              <a:lnSpc>
                <a:spcPct val="170000"/>
              </a:lnSpc>
              <a:spcBef>
                <a:spcPts val="0"/>
              </a:spcBef>
            </a:pPr>
            <a:endParaRPr lang="ru-RU" sz="800" dirty="0"/>
          </a:p>
          <a:p>
            <a:pPr algn="just">
              <a:lnSpc>
                <a:spcPct val="170000"/>
              </a:lnSpc>
              <a:spcBef>
                <a:spcPts val="0"/>
              </a:spcBef>
            </a:pPr>
            <a:r>
              <a:rPr lang="ru-RU" sz="1400" dirty="0"/>
              <a:t>Код механики доступа по роли сотрудников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Заключение</a:t>
            </a:r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</a:pPr>
            <a:r>
              <a:rPr lang="ru-RU" sz="2400" dirty="0"/>
              <a:t>Итоги и перспективы проекта</a:t>
            </a:r>
          </a:p>
          <a:p>
            <a:pPr algn="just">
              <a:buFont typeface="Arial" panose="020B0604020202020204" pitchFamily="34" charset="0"/>
            </a:pPr>
            <a:r>
              <a:rPr lang="ru-RU" sz="2400" dirty="0"/>
              <a:t>Делая выводы, проект имеет высокую перспективу для использования в небольших компаний с малым количеством сотрудников из-за минимализма и интуитивно понятного интерфейса.</a:t>
            </a:r>
          </a:p>
          <a:p>
            <a:pPr algn="just">
              <a:buFont typeface="Arial" panose="020B0604020202020204" pitchFamily="34" charset="0"/>
            </a:pPr>
            <a:r>
              <a:rPr lang="ru-RU" sz="2400" dirty="0"/>
              <a:t>Подводя итоги нельзя сказать навеняка что данный проект войдёт в массовое использование, но с выполнением поставленой задачи к курсовому проектированию были выполнены все требования.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1694206" y="223290"/>
            <a:ext cx="8645178" cy="1117137"/>
          </a:xfrm>
        </p:spPr>
        <p:txBody>
          <a:bodyPr>
            <a:normAutofit/>
          </a:bodyPr>
          <a:lstStyle/>
          <a:p>
            <a:r>
              <a:rPr lang="ru-RU" sz="4000" dirty="0"/>
              <a:t>Спасибо за внимание!</a:t>
            </a:r>
          </a:p>
        </p:txBody>
      </p:sp>
      <p:sp>
        <p:nvSpPr>
          <p:cNvPr id="8" name="Текст 9"/>
          <p:cNvSpPr>
            <a:spLocks noGrp="1"/>
          </p:cNvSpPr>
          <p:nvPr>
            <p:ph type="body" sz="quarter" idx="10"/>
          </p:nvPr>
        </p:nvSpPr>
        <p:spPr>
          <a:xfrm>
            <a:off x="1723458" y="4566153"/>
            <a:ext cx="6700974" cy="70646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Бондарев Иван Дмитриевич</a:t>
            </a:r>
          </a:p>
        </p:txBody>
      </p:sp>
      <p:sp>
        <p:nvSpPr>
          <p:cNvPr id="11" name="Текст 9"/>
          <p:cNvSpPr>
            <a:spLocks noGrp="1"/>
          </p:cNvSpPr>
          <p:nvPr>
            <p:ph type="body" sz="quarter" idx="4294967295"/>
          </p:nvPr>
        </p:nvSpPr>
        <p:spPr>
          <a:xfrm>
            <a:off x="4929447" y="4113415"/>
            <a:ext cx="1097280" cy="36671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ИСП321</a:t>
            </a:r>
          </a:p>
        </p:txBody>
      </p:sp>
      <p:sp>
        <p:nvSpPr>
          <p:cNvPr id="14" name="Текст 14"/>
          <p:cNvSpPr>
            <a:spLocks noGrp="1"/>
          </p:cNvSpPr>
          <p:nvPr>
            <p:ph type="body" sz="quarter" idx="4294967295"/>
          </p:nvPr>
        </p:nvSpPr>
        <p:spPr>
          <a:xfrm>
            <a:off x="5090827" y="5381785"/>
            <a:ext cx="2300287" cy="40481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600" b="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/>
              <a:t>ЛИСАВИНА А. В.</a:t>
            </a:r>
          </a:p>
        </p:txBody>
      </p:sp>
      <p:sp>
        <p:nvSpPr>
          <p:cNvPr id="4" name="Заголовок 1"/>
          <p:cNvSpPr txBox="1"/>
          <p:nvPr/>
        </p:nvSpPr>
        <p:spPr>
          <a:xfrm>
            <a:off x="1723457" y="2400712"/>
            <a:ext cx="6734741" cy="1522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00206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ru-RU" dirty="0"/>
              <a:t>Проектирование и разработка приложения для планирования и учёта рабочего времени сотрудника 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56" r="49722" b="19357"/>
          <a:stretch>
            <a:fillRect/>
          </a:stretch>
        </p:blipFill>
        <p:spPr>
          <a:xfrm>
            <a:off x="8458199" y="1241817"/>
            <a:ext cx="3331931" cy="287159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52908" y="4126718"/>
            <a:ext cx="37712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ВЫПОЛНИЛ СТУДЕНТ ГРУППЫ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1725910" y="1475609"/>
            <a:ext cx="35427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/>
            <a:r>
              <a:rPr lang="ru-RU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КУРСОВАЯ РАБОТА (ПРОЕКТ)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1723458" y="2070798"/>
            <a:ext cx="108876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/>
            <a:r>
              <a:rPr lang="ru-RU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 ТЕМУ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1732126" y="4984028"/>
            <a:ext cx="352151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ct val="150000"/>
              </a:lnSpc>
            </a:pPr>
            <a:r>
              <a:rPr lang="ru-RU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РУКОВОДИТЕЛЬ</a:t>
            </a:r>
          </a:p>
          <a:p>
            <a:pPr lvl="0" algn="l">
              <a:lnSpc>
                <a:spcPct val="150000"/>
              </a:lnSpc>
            </a:pPr>
            <a:r>
              <a:rPr lang="ru-RU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КУРСОВОЙ РАБОТЫ (ПРОЕКТА):</a:t>
            </a:r>
          </a:p>
          <a:p>
            <a:pPr lvl="0" algn="l">
              <a:lnSpc>
                <a:spcPct val="150000"/>
              </a:lnSpc>
            </a:pPr>
            <a:endParaRPr lang="ru-RU" sz="1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591</Words>
  <Application>Microsoft Office PowerPoint</Application>
  <PresentationFormat>Широкоэкранный</PresentationFormat>
  <Paragraphs>98</Paragraphs>
  <Slides>16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1_Тема Office</vt:lpstr>
      <vt:lpstr>Проектирование и разработка приложения для планирования и учёта рабочего времени сотрудника </vt:lpstr>
      <vt:lpstr>Цель</vt:lpstr>
      <vt:lpstr>Задачи</vt:lpstr>
      <vt:lpstr>Актуальность</vt:lpstr>
      <vt:lpstr>Используемый стек технологий</vt:lpstr>
      <vt:lpstr>Диаграмма «сущность-связь»</vt:lpstr>
      <vt:lpstr>Диаграмма вариантов использования</vt:lpstr>
      <vt:lpstr>Диаграмма активностей</vt:lpstr>
      <vt:lpstr>Интерфейс системы</vt:lpstr>
      <vt:lpstr>Интерфейс системы</vt:lpstr>
      <vt:lpstr>Интерфейс системы</vt:lpstr>
      <vt:lpstr>Интерфейс системы</vt:lpstr>
      <vt:lpstr>Интерфейс системы</vt:lpstr>
      <vt:lpstr>Фрагмент программного кода</vt:lpstr>
      <vt:lpstr>Заключение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Александр Савельев</dc:creator>
  <cp:lastModifiedBy>Студенты</cp:lastModifiedBy>
  <cp:revision>102</cp:revision>
  <dcterms:created xsi:type="dcterms:W3CDTF">2023-03-20T17:08:00Z</dcterms:created>
  <dcterms:modified xsi:type="dcterms:W3CDTF">2026-04-27T10:40:47Z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3CC065787AF34168A421922A5C972300_12</vt:lpwstr>
  </property>
  <property fmtid="{D5CDD505-2E9C-101B-9397-08002B2CF9AE}" pid="3" name="KSOProductBuildVer">
    <vt:lpwstr>1049-12.2.0.23196</vt:lpwstr>
  </property>
</Properties>
</file>